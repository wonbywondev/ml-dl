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4615"/>
  </p:normalViewPr>
  <p:slideViewPr>
    <p:cSldViewPr snapToGrid="0">
      <p:cViewPr>
        <p:scale>
          <a:sx n="196" d="100"/>
          <a:sy n="196" d="100"/>
        </p:scale>
        <p:origin x="144" y="-10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EF3C79-3E53-F6F6-8ACC-1D5B2CD92D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AE3E2D-0111-DBE2-DB97-D0DA795094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F3D652-038A-ABE2-665C-47B93D810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63012-D350-3745-9536-393B35D811B0}" type="datetimeFigureOut">
              <a:t>2025. 10. 24.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27C8E3-93B2-2F58-2F10-50641BDA6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269E89-1792-4440-8A26-1AB2BAABE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47B56-2DC3-1D48-9583-D6F243C27C1C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43038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81156F-1D29-C049-BAB3-39ADAD424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4FDEDC-1052-9343-676F-825F68D7F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FCAB0D-EBF4-3B6D-B4CF-24278C421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63012-D350-3745-9536-393B35D811B0}" type="datetimeFigureOut">
              <a:t>2025. 10. 24.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ABA5D0-A949-5710-0174-A2C6ACA65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DB898C-7494-893F-3DB5-92F3AE40F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47B56-2DC3-1D48-9583-D6F243C27C1C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67664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04B6A8-D0A6-5E38-0526-C66FA0870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29B01F-8365-6E44-03DB-E250A300D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FE4F1D-5FCE-3E19-E013-3226FD0BB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63012-D350-3745-9536-393B35D811B0}" type="datetimeFigureOut">
              <a:t>2025. 10. 24.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95B624-1D95-B028-D728-68C702E06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0413A3-3B44-66DE-0394-54296D703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47B56-2DC3-1D48-9583-D6F243C27C1C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08321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74725C-7940-12C3-76C1-0E26A9FA9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5C537C-2F90-939C-2450-9E108BF9C4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5327D12-DC91-68D8-6565-0DC54F3D46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8C8F315-E67D-E4D1-7659-E07AAE5F5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63012-D350-3745-9536-393B35D811B0}" type="datetimeFigureOut">
              <a:t>2025. 10. 24.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351EC53-A3E5-AB26-9EED-4A351FB19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6D2A5B6-2432-FD75-FDE4-C7D0E73A3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47B56-2DC3-1D48-9583-D6F243C27C1C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8923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2E4210-4E6B-AE62-3AD0-67134C9FB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F71077-E02F-D9D0-A5C8-E60593D5F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290B45F-7DFD-0075-C233-F1BF70B920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92CA590-AE7B-B373-FE56-CF59BA9F24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7E996D8-F44F-05D2-A685-FBF5ABCE47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1D36113-43A5-B317-55A2-E340B67DF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63012-D350-3745-9536-393B35D811B0}" type="datetimeFigureOut">
              <a:t>2025. 10. 24.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66B4724-4E3F-8BDE-E5E4-EDBA71049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1080F30-A9CF-FB6F-7B71-B1061A970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47B56-2DC3-1D48-9583-D6F243C27C1C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23271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73785B-1962-91AB-01DB-5B441B908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D0E046-0C07-9955-C263-DF927FCC7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63012-D350-3745-9536-393B35D811B0}" type="datetimeFigureOut">
              <a:t>2025. 10. 24.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BC21B42-BB34-B204-88C9-FF167C3D6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213B49-5A85-1BEA-65F2-D2985AA23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47B56-2DC3-1D48-9583-D6F243C27C1C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71740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3250243-212A-C891-DA81-2A62EE65A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63012-D350-3745-9536-393B35D811B0}" type="datetimeFigureOut">
              <a:t>2025. 10. 24.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63019CE-B28C-1B72-2B42-D32E0CBC8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EA75ED-26D5-4892-0F95-E197D4FA2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47B56-2DC3-1D48-9583-D6F243C27C1C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94906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6053D1-647D-DFAC-1508-162574920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CCF6DA-5D97-F784-680B-9DCC66CA0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58E8BB5-D924-667B-4DD6-28829B9A29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03429C-E97F-7E44-F569-790E41915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63012-D350-3745-9536-393B35D811B0}" type="datetimeFigureOut">
              <a:t>2025. 10. 24.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353B70-AC80-B0F5-AFE3-14DD7B8CB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51E923B-8B35-86F2-E2B8-0767812E9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47B56-2DC3-1D48-9583-D6F243C27C1C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24217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833975-B6E8-EAF5-945C-17C8C3D7E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1FECA0F-0B3E-8848-E94A-588E27DE95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2196D2A-AF42-E255-40A8-7A2A89F385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3BF0046-9D66-CD37-E186-F82A4160F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63012-D350-3745-9536-393B35D811B0}" type="datetimeFigureOut">
              <a:t>2025. 10. 24.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A4C2A0-707D-3C05-97FA-51ABBFB86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4E3E74B-B01F-6627-4E29-836E305D6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47B56-2DC3-1D48-9583-D6F243C27C1C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31154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50A6B2-60EA-B6F1-3214-D55D4801A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4DC6E76-642F-8F04-085A-39FD89D704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FD9F4F-C2DC-67ED-DCCA-A057C9E69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63012-D350-3745-9536-393B35D811B0}" type="datetimeFigureOut">
              <a:t>2025. 10. 24.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237416-B732-5435-628C-612D974FE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B2B5CF-8B20-B67D-CBCF-CA78E0119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47B56-2DC3-1D48-9583-D6F243C27C1C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61764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0CEFD90-56D0-7EBA-8324-E6991C915C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9E2760-9626-F62C-0510-196B721E40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B2E29C-9961-B119-3984-862B01F26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63012-D350-3745-9536-393B35D811B0}" type="datetimeFigureOut">
              <a:t>2025. 10. 24.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E1C352-67BF-5212-3B45-E893E9644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0A5D43-5952-4F09-DD13-878EF7FED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47B56-2DC3-1D48-9583-D6F243C27C1C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57560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ECDE348-25C9-98A5-8F59-A91937F59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F36D76-4EE8-60D4-F251-C04EF12D0F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2436F2-3B8E-87C4-89E8-B136A1C111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B63012-D350-3745-9536-393B35D811B0}" type="datetimeFigureOut">
              <a:t>2025. 10. 24.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F0C4C8-AA4D-360B-7022-7F584F8AD6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DFBFE8-504D-6153-B8F6-8C92888FF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C47B56-2DC3-1D48-9583-D6F243C27C1C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9872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C466097-2F35-6CDA-AADC-AABD97B7C8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794088"/>
              </p:ext>
            </p:extLst>
          </p:nvPr>
        </p:nvGraphicFramePr>
        <p:xfrm>
          <a:off x="262511" y="35678"/>
          <a:ext cx="6984250" cy="68584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2738">
                  <a:extLst>
                    <a:ext uri="{9D8B030D-6E8A-4147-A177-3AD203B41FA5}">
                      <a16:colId xmlns:a16="http://schemas.microsoft.com/office/drawing/2014/main" val="3331057362"/>
                    </a:ext>
                  </a:extLst>
                </a:gridCol>
                <a:gridCol w="530235">
                  <a:extLst>
                    <a:ext uri="{9D8B030D-6E8A-4147-A177-3AD203B41FA5}">
                      <a16:colId xmlns:a16="http://schemas.microsoft.com/office/drawing/2014/main" val="2948988980"/>
                    </a:ext>
                  </a:extLst>
                </a:gridCol>
                <a:gridCol w="1108507">
                  <a:extLst>
                    <a:ext uri="{9D8B030D-6E8A-4147-A177-3AD203B41FA5}">
                      <a16:colId xmlns:a16="http://schemas.microsoft.com/office/drawing/2014/main" val="2369538855"/>
                    </a:ext>
                  </a:extLst>
                </a:gridCol>
                <a:gridCol w="1108507">
                  <a:extLst>
                    <a:ext uri="{9D8B030D-6E8A-4147-A177-3AD203B41FA5}">
                      <a16:colId xmlns:a16="http://schemas.microsoft.com/office/drawing/2014/main" val="1111734179"/>
                    </a:ext>
                  </a:extLst>
                </a:gridCol>
                <a:gridCol w="1332168">
                  <a:extLst>
                    <a:ext uri="{9D8B030D-6E8A-4147-A177-3AD203B41FA5}">
                      <a16:colId xmlns:a16="http://schemas.microsoft.com/office/drawing/2014/main" val="4240918184"/>
                    </a:ext>
                  </a:extLst>
                </a:gridCol>
                <a:gridCol w="1499736">
                  <a:extLst>
                    <a:ext uri="{9D8B030D-6E8A-4147-A177-3AD203B41FA5}">
                      <a16:colId xmlns:a16="http://schemas.microsoft.com/office/drawing/2014/main" val="2851930775"/>
                    </a:ext>
                  </a:extLst>
                </a:gridCol>
                <a:gridCol w="512359">
                  <a:extLst>
                    <a:ext uri="{9D8B030D-6E8A-4147-A177-3AD203B41FA5}">
                      <a16:colId xmlns:a16="http://schemas.microsoft.com/office/drawing/2014/main" val="2876229145"/>
                    </a:ext>
                  </a:extLst>
                </a:gridCol>
              </a:tblGrid>
              <a:tr h="14269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u="none" strike="noStrike">
                          <a:effectLst/>
                        </a:rPr>
                        <a:t>컬럼명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u="none" strike="noStrike">
                          <a:effectLst/>
                        </a:rPr>
                        <a:t>설명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u="none" strike="noStrike">
                          <a:effectLst/>
                        </a:rPr>
                        <a:t>특이사항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메모</a:t>
                      </a:r>
                    </a:p>
                  </a:txBody>
                  <a:tcPr marL="6705" marR="6705" marT="6705" marB="0" anchor="ctr"/>
                </a:tc>
                <a:extLst>
                  <a:ext uri="{0D108BD9-81ED-4DB2-BD59-A6C34878D82A}">
                    <a16:rowId xmlns:a16="http://schemas.microsoft.com/office/drawing/2014/main" val="719953656"/>
                  </a:ext>
                </a:extLst>
              </a:tr>
              <a:tr h="142694">
                <a:tc rowSpan="4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고객 정보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–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상환 능력</a:t>
                      </a:r>
                      <a:endParaRPr lang="en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800" u="none" strike="noStrike">
                          <a:effectLst/>
                        </a:rPr>
                        <a:t>age</a:t>
                      </a:r>
                      <a:endParaRPr lang="en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나이 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숫자</a:t>
                      </a:r>
                      <a:r>
                        <a:rPr lang="en-US" altLang="ko-KR" sz="800" u="none" strike="noStrike">
                          <a:effectLst/>
                        </a:rPr>
                        <a:t>)</a:t>
                      </a:r>
                      <a:endParaRPr lang="en-US" altLang="ko-KR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int</a:t>
                      </a: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extLst>
                  <a:ext uri="{0D108BD9-81ED-4DB2-BD59-A6C34878D82A}">
                    <a16:rowId xmlns:a16="http://schemas.microsoft.com/office/drawing/2014/main" val="3508016337"/>
                  </a:ext>
                </a:extLst>
              </a:tr>
              <a:tr h="142694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800" u="none" strike="noStrike">
                          <a:effectLst/>
                        </a:rPr>
                        <a:t>job</a:t>
                      </a:r>
                      <a:endParaRPr lang="en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직업 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범주형</a:t>
                      </a:r>
                      <a:r>
                        <a:rPr lang="en-US" altLang="ko-KR" sz="800" u="none" strike="noStrike">
                          <a:effectLst/>
                        </a:rPr>
                        <a:t>)</a:t>
                      </a:r>
                      <a:endParaRPr lang="en-US" altLang="ko-KR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str</a:t>
                      </a: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800" u="none" strike="noStrike">
                          <a:effectLst/>
                        </a:rPr>
                        <a:t>unknown</a:t>
                      </a:r>
                      <a:endParaRPr lang="en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extLst>
                  <a:ext uri="{0D108BD9-81ED-4DB2-BD59-A6C34878D82A}">
                    <a16:rowId xmlns:a16="http://schemas.microsoft.com/office/drawing/2014/main" val="1497175051"/>
                  </a:ext>
                </a:extLst>
              </a:tr>
              <a:tr h="142694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800" u="none" strike="noStrike">
                          <a:effectLst/>
                        </a:rPr>
                        <a:t>marital</a:t>
                      </a:r>
                      <a:endParaRPr lang="en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결혼 여부 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범주형</a:t>
                      </a:r>
                      <a:r>
                        <a:rPr lang="en-US" altLang="ko-KR" sz="800" u="none" strike="noStrike">
                          <a:effectLst/>
                        </a:rPr>
                        <a:t>)</a:t>
                      </a:r>
                      <a:endParaRPr lang="en-US" altLang="ko-KR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str</a:t>
                      </a: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800" u="none" strike="noStrike">
                          <a:effectLst/>
                        </a:rPr>
                        <a:t>unknown</a:t>
                      </a:r>
                      <a:endParaRPr lang="en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extLst>
                  <a:ext uri="{0D108BD9-81ED-4DB2-BD59-A6C34878D82A}">
                    <a16:rowId xmlns:a16="http://schemas.microsoft.com/office/drawing/2014/main" val="1989253574"/>
                  </a:ext>
                </a:extLst>
              </a:tr>
              <a:tr h="142694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800" u="none" strike="noStrike">
                          <a:effectLst/>
                        </a:rPr>
                        <a:t>education</a:t>
                      </a:r>
                      <a:endParaRPr lang="en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교육 수준 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범주형</a:t>
                      </a:r>
                      <a:r>
                        <a:rPr lang="en-US" altLang="ko-KR" sz="800" u="none" strike="noStrike">
                          <a:effectLst/>
                        </a:rPr>
                        <a:t>)</a:t>
                      </a:r>
                      <a:endParaRPr lang="en-US" altLang="ko-KR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str</a:t>
                      </a: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800" u="none" strike="noStrike">
                          <a:effectLst/>
                        </a:rPr>
                        <a:t>unknown</a:t>
                      </a:r>
                      <a:endParaRPr lang="en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extLst>
                  <a:ext uri="{0D108BD9-81ED-4DB2-BD59-A6C34878D82A}">
                    <a16:rowId xmlns:a16="http://schemas.microsoft.com/office/drawing/2014/main" val="2273945497"/>
                  </a:ext>
                </a:extLst>
              </a:tr>
              <a:tr h="142694"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고객 정보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-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신용 정보</a:t>
                      </a:r>
                      <a:endParaRPr lang="en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800" u="none" strike="noStrike">
                          <a:effectLst/>
                        </a:rPr>
                        <a:t>default</a:t>
                      </a:r>
                      <a:endParaRPr lang="en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신용 불량 여부 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범주형</a:t>
                      </a:r>
                      <a:r>
                        <a:rPr lang="en-US" altLang="ko-KR" sz="800" u="none" strike="noStrike">
                          <a:effectLst/>
                        </a:rPr>
                        <a:t>)</a:t>
                      </a:r>
                      <a:endParaRPr lang="en-US" altLang="ko-KR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str</a:t>
                      </a: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unknown -1 no 0 yes 1</a:t>
                      </a:r>
                      <a:endParaRPr lang="en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800" u="none" strike="noStrike">
                          <a:effectLst/>
                        </a:rPr>
                        <a:t>unknown</a:t>
                      </a:r>
                      <a:endParaRPr lang="en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extLst>
                  <a:ext uri="{0D108BD9-81ED-4DB2-BD59-A6C34878D82A}">
                    <a16:rowId xmlns:a16="http://schemas.microsoft.com/office/drawing/2014/main" val="3784375792"/>
                  </a:ext>
                </a:extLst>
              </a:tr>
              <a:tr h="142694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800" u="none" strike="noStrike">
                          <a:effectLst/>
                        </a:rPr>
                        <a:t>housing</a:t>
                      </a:r>
                      <a:endParaRPr lang="en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주택 대출 여부 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범주형</a:t>
                      </a:r>
                      <a:r>
                        <a:rPr lang="en-US" altLang="ko-KR" sz="800" u="none" strike="noStrike">
                          <a:effectLst/>
                        </a:rPr>
                        <a:t>)</a:t>
                      </a:r>
                      <a:endParaRPr lang="en-US" altLang="ko-KR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str</a:t>
                      </a: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</a:rPr>
                        <a:t>unknown -1 no 0 yes 1</a:t>
                      </a:r>
                      <a:endParaRPr lang="en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+mn-ea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800" u="none" strike="noStrike">
                          <a:effectLst/>
                        </a:rPr>
                        <a:t>unknown</a:t>
                      </a:r>
                      <a:endParaRPr lang="en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extLst>
                  <a:ext uri="{0D108BD9-81ED-4DB2-BD59-A6C34878D82A}">
                    <a16:rowId xmlns:a16="http://schemas.microsoft.com/office/drawing/2014/main" val="709638061"/>
                  </a:ext>
                </a:extLst>
              </a:tr>
              <a:tr h="142694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800" u="none" strike="noStrike">
                          <a:effectLst/>
                        </a:rPr>
                        <a:t>loan</a:t>
                      </a:r>
                      <a:endParaRPr lang="en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개인 대출 여부 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범주형</a:t>
                      </a:r>
                      <a:r>
                        <a:rPr lang="en-US" altLang="ko-KR" sz="800" u="none" strike="noStrike">
                          <a:effectLst/>
                        </a:rPr>
                        <a:t>)</a:t>
                      </a:r>
                      <a:endParaRPr lang="en-US" altLang="ko-KR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str</a:t>
                      </a: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</a:rPr>
                        <a:t>unknown -1 no 0 yes 1</a:t>
                      </a:r>
                      <a:endParaRPr lang="en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+mn-ea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800" u="none" strike="noStrike">
                          <a:effectLst/>
                        </a:rPr>
                        <a:t>unknown</a:t>
                      </a:r>
                      <a:endParaRPr lang="en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extLst>
                  <a:ext uri="{0D108BD9-81ED-4DB2-BD59-A6C34878D82A}">
                    <a16:rowId xmlns:a16="http://schemas.microsoft.com/office/drawing/2014/main" val="3460125140"/>
                  </a:ext>
                </a:extLst>
              </a:tr>
              <a:tr h="142694">
                <a:tc rowSpan="5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현재 거래 정보</a:t>
                      </a:r>
                      <a:endParaRPr lang="en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800" u="none" strike="noStrike">
                          <a:effectLst/>
                        </a:rPr>
                        <a:t>contact</a:t>
                      </a:r>
                      <a:endParaRPr lang="en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연락 유형 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범주형</a:t>
                      </a:r>
                      <a:r>
                        <a:rPr lang="en-US" altLang="ko-KR" sz="800" u="none" strike="noStrike">
                          <a:effectLst/>
                        </a:rPr>
                        <a:t>)</a:t>
                      </a:r>
                      <a:endParaRPr lang="en-US" altLang="ko-KR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str</a:t>
                      </a: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extLst>
                  <a:ext uri="{0D108BD9-81ED-4DB2-BD59-A6C34878D82A}">
                    <a16:rowId xmlns:a16="http://schemas.microsoft.com/office/drawing/2014/main" val="1898816343"/>
                  </a:ext>
                </a:extLst>
              </a:tr>
              <a:tr h="222179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800" u="none" strike="noStrike">
                          <a:effectLst/>
                        </a:rPr>
                        <a:t>month</a:t>
                      </a:r>
                      <a:endParaRPr lang="en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마지막 연락 월 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범주형</a:t>
                      </a:r>
                      <a:r>
                        <a:rPr lang="en-US" altLang="ko-KR" sz="800" u="none" strike="noStrike">
                          <a:effectLst/>
                        </a:rPr>
                        <a:t>)</a:t>
                      </a:r>
                      <a:endParaRPr lang="en-US" altLang="ko-KR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str</a:t>
                      </a: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마지막 연락 후 얼마나 지났는지 알 수 있으면 좋을 텐데</a:t>
                      </a:r>
                      <a:r>
                        <a:rPr lang="en-US" altLang="ko-KR" sz="800" u="none" strike="noStrike">
                          <a:effectLst/>
                        </a:rPr>
                        <a:t>.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extLst>
                  <a:ext uri="{0D108BD9-81ED-4DB2-BD59-A6C34878D82A}">
                    <a16:rowId xmlns:a16="http://schemas.microsoft.com/office/drawing/2014/main" val="1337820256"/>
                  </a:ext>
                </a:extLst>
              </a:tr>
              <a:tr h="142694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800" u="none" strike="noStrike">
                          <a:effectLst/>
                        </a:rPr>
                        <a:t>day_of_week</a:t>
                      </a:r>
                      <a:endParaRPr lang="en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마지막 연락 요일 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범주형</a:t>
                      </a:r>
                      <a:r>
                        <a:rPr lang="en-US" altLang="ko-KR" sz="800" u="none" strike="noStrike">
                          <a:effectLst/>
                        </a:rPr>
                        <a:t>)</a:t>
                      </a:r>
                      <a:endParaRPr lang="en-US" altLang="ko-KR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str</a:t>
                      </a: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extLst>
                  <a:ext uri="{0D108BD9-81ED-4DB2-BD59-A6C34878D82A}">
                    <a16:rowId xmlns:a16="http://schemas.microsoft.com/office/drawing/2014/main" val="3052946594"/>
                  </a:ext>
                </a:extLst>
              </a:tr>
              <a:tr h="222179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800" u="none" strike="noStrike">
                          <a:effectLst/>
                        </a:rPr>
                        <a:t>duration</a:t>
                      </a:r>
                      <a:endParaRPr lang="en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마지막 연락 지속 시간</a:t>
                      </a:r>
                      <a:r>
                        <a:rPr lang="en-US" altLang="ko-KR" sz="800" u="none" strike="noStrike">
                          <a:effectLst/>
                        </a:rPr>
                        <a:t>, </a:t>
                      </a:r>
                      <a:r>
                        <a:rPr lang="ko-KR" altLang="en-US" sz="800" u="none" strike="noStrike">
                          <a:effectLst/>
                        </a:rPr>
                        <a:t>초 단위 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숫자</a:t>
                      </a:r>
                      <a:r>
                        <a:rPr lang="en-US" altLang="ko-KR" sz="800" u="none" strike="noStrike">
                          <a:effectLst/>
                        </a:rPr>
                        <a:t>)</a:t>
                      </a:r>
                      <a:endParaRPr lang="en-US" altLang="ko-KR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int</a:t>
                      </a: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extLst>
                  <a:ext uri="{0D108BD9-81ED-4DB2-BD59-A6C34878D82A}">
                    <a16:rowId xmlns:a16="http://schemas.microsoft.com/office/drawing/2014/main" val="1288338643"/>
                  </a:ext>
                </a:extLst>
              </a:tr>
              <a:tr h="142694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800" u="none" strike="noStrike">
                          <a:effectLst/>
                        </a:rPr>
                        <a:t>campaign</a:t>
                      </a:r>
                      <a:endParaRPr lang="en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캠페인 동안 연락 횟수 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숫자</a:t>
                      </a:r>
                      <a:r>
                        <a:rPr lang="en-US" altLang="ko-KR" sz="800" u="none" strike="noStrike">
                          <a:effectLst/>
                        </a:rPr>
                        <a:t>)</a:t>
                      </a:r>
                      <a:endParaRPr lang="en-US" altLang="ko-KR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int</a:t>
                      </a: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extLst>
                  <a:ext uri="{0D108BD9-81ED-4DB2-BD59-A6C34878D82A}">
                    <a16:rowId xmlns:a16="http://schemas.microsoft.com/office/drawing/2014/main" val="104692524"/>
                  </a:ext>
                </a:extLst>
              </a:tr>
              <a:tr h="142694">
                <a:tc row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이전 거래 정보</a:t>
                      </a:r>
                      <a:endParaRPr lang="en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800" u="none" strike="noStrike">
                          <a:effectLst/>
                        </a:rPr>
                        <a:t>pdays</a:t>
                      </a:r>
                      <a:endParaRPr lang="en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이전 캠페인 후 지난 일수 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숫자</a:t>
                      </a:r>
                      <a:r>
                        <a:rPr lang="en-US" altLang="ko-KR" sz="800" u="none" strike="noStrike">
                          <a:effectLst/>
                        </a:rPr>
                        <a:t>)</a:t>
                      </a:r>
                      <a:endParaRPr lang="en-US" altLang="ko-KR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int</a:t>
                      </a: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u="none" strike="noStrike">
                          <a:effectLst/>
                        </a:rPr>
                        <a:t>999: </a:t>
                      </a:r>
                      <a:r>
                        <a:rPr lang="ko-KR" altLang="en-US" sz="800" u="none" strike="noStrike">
                          <a:effectLst/>
                        </a:rPr>
                        <a:t>이전 캠페인 없음인가</a:t>
                      </a:r>
                      <a:r>
                        <a:rPr lang="en-US" altLang="ko-KR" sz="800" u="none" strike="noStrike">
                          <a:effectLst/>
                        </a:rPr>
                        <a:t>?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 rowSpan="7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800" u="none" strike="noStrike">
                          <a:effectLst/>
                        </a:rPr>
                        <a:t>pdays</a:t>
                      </a:r>
                      <a:r>
                        <a:rPr lang="ko-KR" altLang="en-US" sz="800" u="none" strike="noStrike">
                          <a:effectLst/>
                        </a:rPr>
                        <a:t>의 </a:t>
                      </a:r>
                      <a:r>
                        <a:rPr lang="en-US" altLang="ko-KR" sz="800" u="none" strike="noStrike">
                          <a:effectLst/>
                        </a:rPr>
                        <a:t>999</a:t>
                      </a:r>
                      <a:r>
                        <a:rPr lang="ko-KR" altLang="en-US" sz="800" u="none" strike="noStrike">
                          <a:effectLst/>
                        </a:rPr>
                        <a:t>와</a:t>
                      </a:r>
                      <a:br>
                        <a:rPr lang="ko-KR" altLang="en-US" sz="800" u="none" strike="noStrike">
                          <a:effectLst/>
                        </a:rPr>
                      </a:br>
                      <a:r>
                        <a:rPr lang="en" sz="800" u="none" strike="noStrike">
                          <a:effectLst/>
                        </a:rPr>
                        <a:t>previous</a:t>
                      </a:r>
                      <a:r>
                        <a:rPr lang="ko-KR" altLang="en-US" sz="800" u="none" strike="noStrike">
                          <a:effectLst/>
                        </a:rPr>
                        <a:t>의 </a:t>
                      </a:r>
                      <a:r>
                        <a:rPr lang="en-US" altLang="ko-KR" sz="800" u="none" strike="noStrike">
                          <a:effectLst/>
                        </a:rPr>
                        <a:t>0,</a:t>
                      </a:r>
                      <a:br>
                        <a:rPr lang="en-US" altLang="ko-KR" sz="800" u="none" strike="noStrike">
                          <a:effectLst/>
                        </a:rPr>
                      </a:br>
                      <a:r>
                        <a:rPr lang="en" sz="800" u="none" strike="noStrike">
                          <a:effectLst/>
                        </a:rPr>
                        <a:t>poutcom</a:t>
                      </a:r>
                      <a:r>
                        <a:rPr lang="ko-KR" altLang="en-US" sz="800" u="none" strike="noStrike">
                          <a:effectLst/>
                        </a:rPr>
                        <a:t>의 </a:t>
                      </a:r>
                      <a:r>
                        <a:rPr lang="en" sz="800" u="none" strike="noStrike">
                          <a:effectLst/>
                        </a:rPr>
                        <a:t>nonexistent </a:t>
                      </a:r>
                      <a:br>
                        <a:rPr lang="en" sz="800" u="none" strike="noStrike">
                          <a:effectLst/>
                        </a:rPr>
                      </a:br>
                      <a:r>
                        <a:rPr lang="ko-KR" altLang="en-US" sz="800" u="none" strike="noStrike">
                          <a:effectLst/>
                        </a:rPr>
                        <a:t>이 세 개는 이전 거래가 없었음을 나타내는 것 같은데</a:t>
                      </a:r>
                      <a:r>
                        <a:rPr lang="en-US" altLang="ko-KR" sz="800" u="none" strike="noStrike">
                          <a:effectLst/>
                        </a:rPr>
                        <a:t>,</a:t>
                      </a:r>
                    </a:p>
                    <a:p>
                      <a:pPr algn="ctr" fontAlgn="ctr">
                        <a:buNone/>
                      </a:pP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그럼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pdays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의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999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가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4110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명 빈다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.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꽤 많은 숫자인데 뭘까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ctr" fontAlgn="ctr">
                        <a:buNone/>
                      </a:pP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거래 성공한 적 없이 실패만 있는 사람들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.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extLst>
                  <a:ext uri="{0D108BD9-81ED-4DB2-BD59-A6C34878D82A}">
                    <a16:rowId xmlns:a16="http://schemas.microsoft.com/office/drawing/2014/main" val="791877261"/>
                  </a:ext>
                </a:extLst>
              </a:tr>
              <a:tr h="1426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u="none" strike="noStrike">
                          <a:effectLst/>
                        </a:rPr>
                        <a:t>999 39673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9999972"/>
                  </a:ext>
                </a:extLst>
              </a:tr>
              <a:tr h="1426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그럼 나머지 </a:t>
                      </a:r>
                      <a:r>
                        <a:rPr lang="en-US" altLang="ko-KR" sz="800" u="none" strike="noStrike">
                          <a:effectLst/>
                        </a:rPr>
                        <a:t>4110</a:t>
                      </a:r>
                      <a:r>
                        <a:rPr lang="ko-KR" altLang="en-US" sz="800" u="none" strike="noStrike">
                          <a:effectLst/>
                        </a:rPr>
                        <a:t>은 어딨지</a:t>
                      </a:r>
                      <a:r>
                        <a:rPr lang="en-US" altLang="ko-KR" sz="800" u="none" strike="noStrike">
                          <a:effectLst/>
                        </a:rPr>
                        <a:t>?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223067"/>
                  </a:ext>
                </a:extLst>
              </a:tr>
              <a:tr h="222179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800" u="none" strike="noStrike">
                          <a:effectLst/>
                        </a:rPr>
                        <a:t>previous</a:t>
                      </a:r>
                      <a:endParaRPr lang="en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이전 캠페인 동안 연락 횟수 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숫자</a:t>
                      </a:r>
                      <a:r>
                        <a:rPr lang="en-US" altLang="ko-KR" sz="800" u="none" strike="noStrike">
                          <a:effectLst/>
                        </a:rPr>
                        <a:t>)</a:t>
                      </a:r>
                      <a:endParaRPr lang="en-US" altLang="ko-KR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int</a:t>
                      </a: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u="none" strike="noStrike">
                          <a:effectLst/>
                        </a:rPr>
                        <a:t>0 35563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766802"/>
                  </a:ext>
                </a:extLst>
              </a:tr>
              <a:tr h="142694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800" u="none" strike="noStrike">
                          <a:effectLst/>
                        </a:rPr>
                        <a:t>poutcome</a:t>
                      </a:r>
                      <a:endParaRPr lang="en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이전 캠페인의 결과 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범주형</a:t>
                      </a:r>
                      <a:r>
                        <a:rPr lang="en-US" altLang="ko-KR" sz="800" u="none" strike="noStrike">
                          <a:effectLst/>
                        </a:rPr>
                        <a:t>)</a:t>
                      </a:r>
                      <a:endParaRPr lang="en-US" altLang="ko-KR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str</a:t>
                      </a: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800" u="none" strike="noStrike">
                          <a:effectLst/>
                        </a:rPr>
                        <a:t>nonexistent 35563</a:t>
                      </a:r>
                      <a:endParaRPr lang="en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301088"/>
                  </a:ext>
                </a:extLst>
              </a:tr>
              <a:tr h="1426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800" u="none" strike="noStrike">
                          <a:effectLst/>
                        </a:rPr>
                        <a:t>failure 4252</a:t>
                      </a:r>
                      <a:endParaRPr lang="en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3940826"/>
                  </a:ext>
                </a:extLst>
              </a:tr>
              <a:tr h="5839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800" u="none" strike="noStrike">
                          <a:effectLst/>
                        </a:rPr>
                        <a:t>success 1373</a:t>
                      </a:r>
                      <a:endParaRPr lang="en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535515"/>
                  </a:ext>
                </a:extLst>
              </a:tr>
              <a:tr h="142694">
                <a:tc rowSpan="5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거시 지표</a:t>
                      </a:r>
                      <a:endParaRPr lang="en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800" u="none" strike="noStrike">
                          <a:effectLst/>
                        </a:rPr>
                        <a:t>emp.var.rate</a:t>
                      </a:r>
                      <a:endParaRPr lang="en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고용 변동률 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숫자</a:t>
                      </a:r>
                      <a:r>
                        <a:rPr lang="en-US" altLang="ko-KR" sz="800" u="none" strike="noStrike">
                          <a:effectLst/>
                        </a:rPr>
                        <a:t>)</a:t>
                      </a:r>
                      <a:endParaRPr lang="en-US" altLang="ko-KR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float</a:t>
                      </a: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 rowSpan="6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</a:rPr>
                        <a:t>거시 지표끼리 중복되는 영향 있는지 체크하자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</a:rPr>
                        <a:t>.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</a:rPr>
                        <a:t> 그리고 어떻게 계산하는지도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</a:rPr>
                        <a:t>.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+mn-ea"/>
                      </a:endParaRPr>
                    </a:p>
                  </a:txBody>
                  <a:tcPr marL="6705" marR="6705" marT="6705" marB="0" anchor="ctr"/>
                </a:tc>
                <a:extLst>
                  <a:ext uri="{0D108BD9-81ED-4DB2-BD59-A6C34878D82A}">
                    <a16:rowId xmlns:a16="http://schemas.microsoft.com/office/drawing/2014/main" val="2278350129"/>
                  </a:ext>
                </a:extLst>
              </a:tr>
              <a:tr h="142694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800" u="none" strike="noStrike">
                          <a:effectLst/>
                        </a:rPr>
                        <a:t>cons.price.idx</a:t>
                      </a:r>
                      <a:endParaRPr lang="en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소비자 물가지수 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숫자</a:t>
                      </a:r>
                      <a:r>
                        <a:rPr lang="en-US" altLang="ko-KR" sz="800" u="none" strike="noStrike">
                          <a:effectLst/>
                        </a:rPr>
                        <a:t>)</a:t>
                      </a:r>
                      <a:endParaRPr lang="en-US" altLang="ko-KR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float</a:t>
                      </a: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extLst>
                  <a:ext uri="{0D108BD9-81ED-4DB2-BD59-A6C34878D82A}">
                    <a16:rowId xmlns:a16="http://schemas.microsoft.com/office/drawing/2014/main" val="2300093602"/>
                  </a:ext>
                </a:extLst>
              </a:tr>
              <a:tr h="142694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800" u="none" strike="noStrike">
                          <a:effectLst/>
                        </a:rPr>
                        <a:t>cons.conf.idx</a:t>
                      </a:r>
                      <a:endParaRPr lang="en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소비자 신뢰지수 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숫자</a:t>
                      </a:r>
                      <a:r>
                        <a:rPr lang="en-US" altLang="ko-KR" sz="800" u="none" strike="noStrike">
                          <a:effectLst/>
                        </a:rPr>
                        <a:t>)</a:t>
                      </a:r>
                      <a:endParaRPr lang="en-US" altLang="ko-KR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float</a:t>
                      </a: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extLst>
                  <a:ext uri="{0D108BD9-81ED-4DB2-BD59-A6C34878D82A}">
                    <a16:rowId xmlns:a16="http://schemas.microsoft.com/office/drawing/2014/main" val="3456605001"/>
                  </a:ext>
                </a:extLst>
              </a:tr>
              <a:tr h="142694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800" u="none" strike="noStrike">
                          <a:effectLst/>
                        </a:rPr>
                        <a:t>euribor3m</a:t>
                      </a:r>
                      <a:endParaRPr lang="en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u="none" strike="noStrike">
                          <a:effectLst/>
                        </a:rPr>
                        <a:t>3</a:t>
                      </a:r>
                      <a:r>
                        <a:rPr lang="ko-KR" altLang="en-US" sz="800" u="none" strike="noStrike">
                          <a:effectLst/>
                        </a:rPr>
                        <a:t>개월 유리보 금리 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숫자</a:t>
                      </a:r>
                      <a:r>
                        <a:rPr lang="en-US" altLang="ko-KR" sz="800" u="none" strike="noStrike">
                          <a:effectLst/>
                        </a:rPr>
                        <a:t>)</a:t>
                      </a:r>
                      <a:endParaRPr lang="en-US" altLang="ko-KR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float</a:t>
                      </a: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퍼센트로 단위 변환 필요하려나</a:t>
                      </a:r>
                      <a:r>
                        <a:rPr lang="en-US" altLang="ko-KR" sz="800" u="none" strike="noStrike">
                          <a:effectLst/>
                        </a:rPr>
                        <a:t>? 1/100.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extLst>
                  <a:ext uri="{0D108BD9-81ED-4DB2-BD59-A6C34878D82A}">
                    <a16:rowId xmlns:a16="http://schemas.microsoft.com/office/drawing/2014/main" val="1506902162"/>
                  </a:ext>
                </a:extLst>
              </a:tr>
              <a:tr h="222179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800" u="none" strike="noStrike">
                          <a:effectLst/>
                        </a:rPr>
                        <a:t>nr.employed</a:t>
                      </a:r>
                      <a:endParaRPr lang="en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고용자 수 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숫자</a:t>
                      </a:r>
                      <a:r>
                        <a:rPr lang="en-US" altLang="ko-KR" sz="800" u="none" strike="noStrike">
                          <a:effectLst/>
                        </a:rPr>
                        <a:t>)</a:t>
                      </a:r>
                      <a:endParaRPr lang="en-US" altLang="ko-KR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float</a:t>
                      </a: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거시 지표 들어오니까 되게 새롭네</a:t>
                      </a:r>
                      <a:r>
                        <a:rPr lang="en-US" altLang="ko-KR" sz="800" u="none" strike="noStrike">
                          <a:effectLst/>
                        </a:rPr>
                        <a:t>. </a:t>
                      </a:r>
                      <a:r>
                        <a:rPr lang="ko-KR" altLang="en-US" sz="800" u="none" strike="noStrike">
                          <a:effectLst/>
                        </a:rPr>
                        <a:t>자료 조사 필요하려나</a:t>
                      </a:r>
                      <a:r>
                        <a:rPr lang="en-US" altLang="ko-KR" sz="800" u="none" strike="noStrike">
                          <a:effectLst/>
                        </a:rPr>
                        <a:t>.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extLst>
                  <a:ext uri="{0D108BD9-81ED-4DB2-BD59-A6C34878D82A}">
                    <a16:rowId xmlns:a16="http://schemas.microsoft.com/office/drawing/2014/main" val="3387339461"/>
                  </a:ext>
                </a:extLst>
              </a:tr>
              <a:tr h="142694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</a:rPr>
                        <a:t>정답</a:t>
                      </a:r>
                      <a:endParaRPr lang="en" altLang="ko-KR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+mn-ea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800" u="none" strike="noStrike">
                          <a:effectLst/>
                        </a:rPr>
                        <a:t>y</a:t>
                      </a:r>
                      <a:endParaRPr lang="en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정기 예금 가입 여부</a:t>
                      </a:r>
                      <a:endParaRPr lang="en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0 no 1 yes</a:t>
                      </a:r>
                    </a:p>
                  </a:txBody>
                  <a:tcPr marL="6705" marR="6705" marT="67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이게 정답지구나</a:t>
                      </a:r>
                      <a:r>
                        <a:rPr lang="en-US" altLang="ko-KR" sz="800" u="none" strike="noStrike">
                          <a:effectLst/>
                        </a:rPr>
                        <a:t>.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705" marR="6705" marT="6705" marB="0" anchor="ctr"/>
                </a:tc>
                <a:extLst>
                  <a:ext uri="{0D108BD9-81ED-4DB2-BD59-A6C34878D82A}">
                    <a16:rowId xmlns:a16="http://schemas.microsoft.com/office/drawing/2014/main" val="262771184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7B57BD5-3E2C-E110-32B2-6481800689C8}"/>
              </a:ext>
            </a:extLst>
          </p:cNvPr>
          <p:cNvSpPr txBox="1"/>
          <p:nvPr/>
        </p:nvSpPr>
        <p:spPr>
          <a:xfrm>
            <a:off x="7819949" y="475488"/>
            <a:ext cx="296427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100"/>
              <a:t>이전 캠페인을 진행하지 않은 사람</a:t>
            </a:r>
            <a:r>
              <a:rPr kumimoji="1" lang="en-US" altLang="ko-KR" sz="1100"/>
              <a:t>:</a:t>
            </a:r>
            <a:r>
              <a:rPr kumimoji="1" lang="ko-KR" altLang="en-US" sz="1100"/>
              <a:t> </a:t>
            </a:r>
            <a:r>
              <a:rPr kumimoji="1" lang="en-US" altLang="ko-KR" sz="1100"/>
              <a:t>35563</a:t>
            </a:r>
            <a:r>
              <a:rPr kumimoji="1" lang="ko-KR" altLang="en-US" sz="1100"/>
              <a:t>명</a:t>
            </a:r>
            <a:endParaRPr kumimoji="1" lang="en-US" altLang="ko-KR" sz="1100"/>
          </a:p>
          <a:p>
            <a:r>
              <a:rPr kumimoji="1" lang="en-US" altLang="ko-KR" sz="1100"/>
              <a:t>(</a:t>
            </a:r>
            <a:r>
              <a:rPr kumimoji="1" lang="ko-KR" altLang="en-US" sz="1100"/>
              <a:t> 지금 처음 은행 온 거임</a:t>
            </a:r>
            <a:r>
              <a:rPr kumimoji="1" lang="en-US" altLang="ko-KR" sz="1100"/>
              <a:t>)</a:t>
            </a:r>
            <a:endParaRPr kumimoji="1" lang="ko-KR" altLang="en-US" sz="11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6FD598-6D66-6FFF-0857-74BEEF58CFC3}"/>
              </a:ext>
            </a:extLst>
          </p:cNvPr>
          <p:cNvSpPr txBox="1"/>
          <p:nvPr/>
        </p:nvSpPr>
        <p:spPr>
          <a:xfrm>
            <a:off x="7819949" y="1843430"/>
            <a:ext cx="34948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100"/>
              <a:t>이전 캠페인을 진행한 사람은 성공 혹은 실패로 나뉨</a:t>
            </a:r>
            <a:r>
              <a:rPr kumimoji="1" lang="en-US" altLang="ko-KR" sz="1100"/>
              <a:t>.</a:t>
            </a:r>
            <a:endParaRPr kumimoji="1" lang="ko-KR" altLang="en-US" sz="11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46B89A-C6F4-AB2B-100D-92F1EB486546}"/>
              </a:ext>
            </a:extLst>
          </p:cNvPr>
          <p:cNvSpPr txBox="1"/>
          <p:nvPr/>
        </p:nvSpPr>
        <p:spPr>
          <a:xfrm>
            <a:off x="7819949" y="2188847"/>
            <a:ext cx="4467890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100"/>
              <a:t>은행에 연락 안 하고 걸어와서 대출 상담 후 실패</a:t>
            </a:r>
            <a:endParaRPr kumimoji="1" lang="en-US" altLang="ko-KR" sz="1100"/>
          </a:p>
          <a:p>
            <a:r>
              <a:rPr kumimoji="1" lang="en-US" altLang="ko-KR" sz="1100"/>
              <a:t>pdays: 0</a:t>
            </a:r>
          </a:p>
          <a:p>
            <a:r>
              <a:rPr kumimoji="1" lang="en-US" altLang="ko-KR" sz="1100"/>
              <a:t>previous: 0</a:t>
            </a:r>
          </a:p>
          <a:p>
            <a:r>
              <a:rPr kumimoji="1" lang="en-US" altLang="ko-KR" sz="1100"/>
              <a:t>poutcome: failure</a:t>
            </a:r>
          </a:p>
          <a:p>
            <a:r>
              <a:rPr kumimoji="1" lang="ko-KR" altLang="en-US" sz="1100"/>
              <a:t>걸어오는 걸 연락으로 안 치면 </a:t>
            </a:r>
            <a:r>
              <a:rPr kumimoji="1" lang="en-US" altLang="ko-KR" sz="1100"/>
              <a:t>campaign</a:t>
            </a:r>
            <a:r>
              <a:rPr kumimoji="1" lang="ko-KR" altLang="en-US" sz="1100"/>
              <a:t>에 </a:t>
            </a:r>
            <a:r>
              <a:rPr kumimoji="1" lang="en-US" altLang="ko-KR" sz="1100"/>
              <a:t>0</a:t>
            </a:r>
            <a:r>
              <a:rPr kumimoji="1" lang="ko-KR" altLang="en-US" sz="1100"/>
              <a:t>이 있어야 하는데 없음</a:t>
            </a:r>
            <a:r>
              <a:rPr kumimoji="1" lang="en-US" altLang="ko-KR" sz="110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D1DCCF-02E2-03CF-801F-0063D0726B83}"/>
              </a:ext>
            </a:extLst>
          </p:cNvPr>
          <p:cNvSpPr txBox="1"/>
          <p:nvPr/>
        </p:nvSpPr>
        <p:spPr>
          <a:xfrm>
            <a:off x="7819949" y="990182"/>
            <a:ext cx="382668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100" b="1"/>
              <a:t>거래 이력 없는 손님이 와서 대출 시도했다가 실패한 경우</a:t>
            </a:r>
            <a:endParaRPr kumimoji="1" lang="en-US" altLang="ko-KR" sz="1100" b="1"/>
          </a:p>
          <a:p>
            <a:r>
              <a:rPr kumimoji="1" lang="en-US" altLang="ko-KR" sz="1100" b="1"/>
              <a:t>pdays: 999 (</a:t>
            </a:r>
            <a:r>
              <a:rPr kumimoji="1" lang="ko-KR" altLang="en-US" sz="1100" b="1"/>
              <a:t>이전 캠페인 없다고 간주</a:t>
            </a:r>
            <a:r>
              <a:rPr kumimoji="1" lang="en-US" altLang="ko-KR" sz="1100" b="1"/>
              <a:t>)</a:t>
            </a:r>
          </a:p>
          <a:p>
            <a:r>
              <a:rPr kumimoji="1" lang="en-US" altLang="ko-KR" sz="1100" b="1"/>
              <a:t>previous </a:t>
            </a:r>
            <a:r>
              <a:rPr kumimoji="1" lang="ko-KR" altLang="en-US" sz="1100" b="1"/>
              <a:t>그대로 기록됨</a:t>
            </a:r>
            <a:r>
              <a:rPr kumimoji="1" lang="en-US" altLang="ko-KR" sz="1100" b="1"/>
              <a:t>(0</a:t>
            </a:r>
            <a:r>
              <a:rPr kumimoji="1" lang="ko-KR" altLang="en-US" sz="1100" b="1"/>
              <a:t>은 아님</a:t>
            </a:r>
            <a:r>
              <a:rPr kumimoji="1" lang="en-US" altLang="ko-KR" sz="1100" b="1"/>
              <a:t>)</a:t>
            </a:r>
          </a:p>
          <a:p>
            <a:r>
              <a:rPr kumimoji="1" lang="en-US" altLang="ko-KR" sz="1100" b="1"/>
              <a:t>poutcome: failure</a:t>
            </a:r>
            <a:endParaRPr kumimoji="1" lang="ko-KR" altLang="en-US" sz="1100" b="1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F9A30BF-2CC7-6C72-0DBE-B49E4A68F8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2075429"/>
              </p:ext>
            </p:extLst>
          </p:nvPr>
        </p:nvGraphicFramePr>
        <p:xfrm>
          <a:off x="7532231" y="4090421"/>
          <a:ext cx="4402124" cy="165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531">
                  <a:extLst>
                    <a:ext uri="{9D8B030D-6E8A-4147-A177-3AD203B41FA5}">
                      <a16:colId xmlns:a16="http://schemas.microsoft.com/office/drawing/2014/main" val="854589864"/>
                    </a:ext>
                  </a:extLst>
                </a:gridCol>
                <a:gridCol w="1100531">
                  <a:extLst>
                    <a:ext uri="{9D8B030D-6E8A-4147-A177-3AD203B41FA5}">
                      <a16:colId xmlns:a16="http://schemas.microsoft.com/office/drawing/2014/main" val="3652217356"/>
                    </a:ext>
                  </a:extLst>
                </a:gridCol>
                <a:gridCol w="1100531">
                  <a:extLst>
                    <a:ext uri="{9D8B030D-6E8A-4147-A177-3AD203B41FA5}">
                      <a16:colId xmlns:a16="http://schemas.microsoft.com/office/drawing/2014/main" val="3532432655"/>
                    </a:ext>
                  </a:extLst>
                </a:gridCol>
                <a:gridCol w="1100531">
                  <a:extLst>
                    <a:ext uri="{9D8B030D-6E8A-4147-A177-3AD203B41FA5}">
                      <a16:colId xmlns:a16="http://schemas.microsoft.com/office/drawing/2014/main" val="19076532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이전 캠페인 이력</a:t>
                      </a:r>
                      <a:endParaRPr lang="en-US" altLang="ko-K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previous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poutcome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pdays</a:t>
                      </a:r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746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없음</a:t>
                      </a:r>
                      <a:r>
                        <a:rPr lang="en-US" altLang="ko-KR" sz="1200"/>
                        <a:t>(</a:t>
                      </a:r>
                      <a:r>
                        <a:rPr lang="ko-KR" altLang="en-US" sz="1200"/>
                        <a:t>첫 방문</a:t>
                      </a:r>
                      <a:r>
                        <a:rPr lang="en-US" altLang="ko-KR" sz="1200"/>
                        <a:t>)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0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nonexistent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999</a:t>
                      </a:r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2363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없음</a:t>
                      </a:r>
                      <a:r>
                        <a:rPr lang="en-US" altLang="ko-KR" sz="1200"/>
                        <a:t>(</a:t>
                      </a:r>
                      <a:r>
                        <a:rPr lang="ko-KR" altLang="en-US" sz="1200"/>
                        <a:t>예전에 시도 후 실패</a:t>
                      </a:r>
                      <a:r>
                        <a:rPr lang="en-US" altLang="ko-KR" sz="1200"/>
                        <a:t>)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!= 0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failure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999</a:t>
                      </a:r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5088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있음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!= 0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success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!= 999</a:t>
                      </a:r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60028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8404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827</TotalTime>
  <Words>460</Words>
  <Application>Microsoft Macintosh PowerPoint</Application>
  <PresentationFormat>와이드스크린</PresentationFormat>
  <Paragraphs>128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성일 원</dc:creator>
  <cp:lastModifiedBy>성일 원</cp:lastModifiedBy>
  <cp:revision>3</cp:revision>
  <dcterms:created xsi:type="dcterms:W3CDTF">2025-10-23T02:13:24Z</dcterms:created>
  <dcterms:modified xsi:type="dcterms:W3CDTF">2025-10-24T11:15:08Z</dcterms:modified>
</cp:coreProperties>
</file>